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22" Type="http://schemas.openxmlformats.org/officeDocument/2006/relationships/image" Target="../media/image52.png"/><Relationship Id="rId21" Type="http://schemas.openxmlformats.org/officeDocument/2006/relationships/image" Target="../media/image51.png"/><Relationship Id="rId24" Type="http://schemas.openxmlformats.org/officeDocument/2006/relationships/image" Target="../media/image54.png"/><Relationship Id="rId23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26" Type="http://schemas.openxmlformats.org/officeDocument/2006/relationships/image" Target="../media/image56.png"/><Relationship Id="rId25" Type="http://schemas.openxmlformats.org/officeDocument/2006/relationships/image" Target="../media/image55.png"/><Relationship Id="rId28" Type="http://schemas.openxmlformats.org/officeDocument/2006/relationships/image" Target="../media/image58.png"/><Relationship Id="rId27" Type="http://schemas.openxmlformats.org/officeDocument/2006/relationships/image" Target="../media/image57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29" Type="http://schemas.openxmlformats.org/officeDocument/2006/relationships/image" Target="../media/image59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7" Type="http://schemas.openxmlformats.org/officeDocument/2006/relationships/image" Target="../media/image47.png"/><Relationship Id="rId16" Type="http://schemas.openxmlformats.org/officeDocument/2006/relationships/image" Target="../media/image46.png"/><Relationship Id="rId19" Type="http://schemas.openxmlformats.org/officeDocument/2006/relationships/image" Target="../media/image49.png"/><Relationship Id="rId18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 /><Relationship Id="rId3" Type="http://schemas.openxmlformats.org/officeDocument/2006/relationships/image" Target="../media/image62.png" /><Relationship Id="rId7" Type="http://schemas.openxmlformats.org/officeDocument/2006/relationships/image" Target="../media/image66.png" /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5.png" /><Relationship Id="rId11" Type="http://schemas.openxmlformats.org/officeDocument/2006/relationships/image" Target="../media/image70.png" /><Relationship Id="rId5" Type="http://schemas.openxmlformats.org/officeDocument/2006/relationships/image" Target="../media/image64.png" /><Relationship Id="rId10" Type="http://schemas.openxmlformats.org/officeDocument/2006/relationships/image" Target="../media/image69.png" /><Relationship Id="rId4" Type="http://schemas.openxmlformats.org/officeDocument/2006/relationships/image" Target="../media/image63.png" /><Relationship Id="rId9" Type="http://schemas.openxmlformats.org/officeDocument/2006/relationships/image" Target="../media/image68.png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0" y="0"/>
            <a:ext cx="10668000" cy="10287000"/>
          </a:xfrm>
          <a:custGeom>
            <a:rect b="b" l="l" r="r" t="t"/>
            <a:pathLst>
              <a:path extrusionOk="0" h="10287000" w="10668000">
                <a:moveTo>
                  <a:pt x="0" y="0"/>
                </a:moveTo>
                <a:lnTo>
                  <a:pt x="10668000" y="0"/>
                </a:lnTo>
                <a:lnTo>
                  <a:pt x="1066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"/>
          <p:cNvSpPr txBox="1"/>
          <p:nvPr/>
        </p:nvSpPr>
        <p:spPr>
          <a:xfrm>
            <a:off x="841248" y="4217389"/>
            <a:ext cx="7699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7"/>
              <a:buFont typeface="Rubik"/>
              <a:buNone/>
            </a:pPr>
            <a:r>
              <a:rPr b="1" i="0" lang="en-US" sz="2407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AI-Powered Community Problem Solving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647700" y="4924425"/>
            <a:ext cx="1095375" cy="219075"/>
          </a:xfrm>
          <a:custGeom>
            <a:rect b="b" l="l" r="r" t="t"/>
            <a:pathLst>
              <a:path extrusionOk="0"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"/>
          <p:cNvSpPr txBox="1"/>
          <p:nvPr/>
        </p:nvSpPr>
        <p:spPr>
          <a:xfrm>
            <a:off x="841248" y="5487315"/>
            <a:ext cx="6144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Clr>
                <a:srgbClr val="0089D4"/>
              </a:buClr>
              <a:buSzPts val="2337"/>
              <a:buFont typeface="Rubik"/>
              <a:buNone/>
            </a:pPr>
            <a:r>
              <a:rPr b="1" i="0" lang="en-US" sz="2337" u="none" cap="none" strike="noStrike">
                <a:solidFill>
                  <a:srgbClr val="0089D4"/>
                </a:solidFill>
                <a:latin typeface="Rubik"/>
                <a:ea typeface="Rubik"/>
                <a:cs typeface="Rubik"/>
                <a:sym typeface="Rubik"/>
              </a:rPr>
              <a:t>Report. Solve. Improve Our City Together.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10448925" y="2143125"/>
            <a:ext cx="1743075" cy="1504950"/>
          </a:xfrm>
          <a:custGeom>
            <a:rect b="b" l="l" r="r" t="t"/>
            <a:pathLst>
              <a:path extrusionOk="0"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"/>
          <p:cNvSpPr/>
          <p:nvPr/>
        </p:nvSpPr>
        <p:spPr>
          <a:xfrm>
            <a:off x="11315700" y="4495800"/>
            <a:ext cx="1314450" cy="1076325"/>
          </a:xfrm>
          <a:custGeom>
            <a:rect b="b" l="l" r="r" t="t"/>
            <a:pathLst>
              <a:path extrusionOk="0"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14582775" y="1066800"/>
            <a:ext cx="1971675" cy="1295400"/>
          </a:xfrm>
          <a:custGeom>
            <a:rect b="b" l="l" r="r" t="t"/>
            <a:pathLst>
              <a:path extrusionOk="0" h="1295400" w="1971675">
                <a:moveTo>
                  <a:pt x="0" y="0"/>
                </a:moveTo>
                <a:lnTo>
                  <a:pt x="1971675" y="0"/>
                </a:lnTo>
                <a:lnTo>
                  <a:pt x="197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15668625" y="3857625"/>
            <a:ext cx="1533525" cy="1076325"/>
          </a:xfrm>
          <a:custGeom>
            <a:rect b="b" l="l" r="r" t="t"/>
            <a:pathLst>
              <a:path extrusionOk="0"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6524625" y="4714875"/>
            <a:ext cx="4362450" cy="5572125"/>
          </a:xfrm>
          <a:custGeom>
            <a:rect b="b" l="l" r="r" t="t"/>
            <a:pathLst>
              <a:path extrusionOk="0" h="5572125" w="4362450">
                <a:moveTo>
                  <a:pt x="0" y="0"/>
                </a:moveTo>
                <a:lnTo>
                  <a:pt x="4362450" y="0"/>
                </a:lnTo>
                <a:lnTo>
                  <a:pt x="43624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"/>
          <p:cNvSpPr/>
          <p:nvPr/>
        </p:nvSpPr>
        <p:spPr>
          <a:xfrm>
            <a:off x="12401550" y="5572125"/>
            <a:ext cx="2190750" cy="3429000"/>
          </a:xfrm>
          <a:custGeom>
            <a:rect b="b" l="l" r="r" t="t"/>
            <a:pathLst>
              <a:path extrusionOk="0" h="3429000" w="2190750">
                <a:moveTo>
                  <a:pt x="0" y="0"/>
                </a:moveTo>
                <a:lnTo>
                  <a:pt x="2190750" y="0"/>
                </a:lnTo>
                <a:lnTo>
                  <a:pt x="21907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"/>
          <p:cNvSpPr/>
          <p:nvPr/>
        </p:nvSpPr>
        <p:spPr>
          <a:xfrm>
            <a:off x="13925550" y="4714875"/>
            <a:ext cx="4362450" cy="5572125"/>
          </a:xfrm>
          <a:custGeom>
            <a:rect b="b" l="l" r="r" t="t"/>
            <a:pathLst>
              <a:path extrusionOk="0" h="5572125" w="4362450">
                <a:moveTo>
                  <a:pt x="0" y="0"/>
                </a:moveTo>
                <a:lnTo>
                  <a:pt x="4362450" y="0"/>
                </a:lnTo>
                <a:lnTo>
                  <a:pt x="43624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"/>
          <p:cNvSpPr txBox="1"/>
          <p:nvPr/>
        </p:nvSpPr>
        <p:spPr>
          <a:xfrm>
            <a:off x="804676" y="1101625"/>
            <a:ext cx="96444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1"/>
              <a:buFont typeface="Arial"/>
              <a:buNone/>
            </a:pPr>
            <a:r>
              <a:rPr b="1" i="0" lang="en-US" sz="118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CIVIC </a:t>
            </a:r>
            <a:r>
              <a:rPr b="1" i="0" lang="en-US" sz="11801" u="none" cap="none" strike="noStrike">
                <a:solidFill>
                  <a:srgbClr val="0089D4"/>
                </a:solidFill>
                <a:latin typeface="Arial"/>
                <a:ea typeface="Arial"/>
                <a:cs typeface="Arial"/>
                <a:sym typeface="Arial"/>
              </a:rPr>
              <a:t>GUARDIAN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841251" y="6654093"/>
            <a:ext cx="37308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1"/>
              <a:buFont typeface="Rubik"/>
              <a:buNone/>
            </a:pPr>
            <a:r>
              <a:rPr b="0" i="0" lang="en-US" sz="2301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 Anbuselvan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1"/>
              <a:buFont typeface="Rubik"/>
              <a:buNone/>
            </a:pPr>
            <a:r>
              <a:rPr b="0" i="0" lang="en-US" sz="2301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 A Sethupathi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1"/>
              <a:buFont typeface="Rubik"/>
              <a:buNone/>
            </a:pPr>
            <a:r>
              <a:rPr b="0" i="0" lang="en-US" sz="2301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 Pon madasamy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841251" y="8476344"/>
            <a:ext cx="6144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3"/>
              <a:buFont typeface="Rubik"/>
              <a:buNone/>
            </a:pPr>
            <a:r>
              <a:rPr b="0" i="0" lang="en-US" sz="2053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CSE(AIML)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3"/>
              <a:buFont typeface="Rubik"/>
              <a:buNone/>
            </a:pPr>
            <a:r>
              <a:rPr b="0" i="0" lang="en-US" sz="2053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Sri Sairam Engineering College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" name="Google Shape;70;p2"/>
          <p:cNvSpPr txBox="1"/>
          <p:nvPr/>
        </p:nvSpPr>
        <p:spPr>
          <a:xfrm>
            <a:off x="731528" y="802197"/>
            <a:ext cx="84126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731526" y="1810324"/>
            <a:ext cx="77022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73" u="none" cap="none" strike="noStrike">
                <a:solidFill>
                  <a:srgbClr val="00A4E0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7700" y="3429000"/>
            <a:ext cx="1314450" cy="219075"/>
          </a:xfrm>
          <a:custGeom>
            <a:rect b="b" l="l" r="r" t="t"/>
            <a:pathLst>
              <a:path extrusionOk="0"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2"/>
          <p:cNvSpPr txBox="1"/>
          <p:nvPr/>
        </p:nvSpPr>
        <p:spPr>
          <a:xfrm>
            <a:off x="731527" y="3977297"/>
            <a:ext cx="60363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2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Civic problems are everywhere and impact daily life.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731520" y="5180557"/>
            <a:ext cx="50841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7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Reporting and coordination are slow and inefficient.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731520" y="6415309"/>
            <a:ext cx="70593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2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Issues remain unresolved due to gaps in reporting, tracking, verification and communication.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731520" y="7668348"/>
            <a:ext cx="69678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6" u="none" cap="none" strike="noStrike">
                <a:solidFill>
                  <a:srgbClr val="00A4E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Communities need a smart platform that connects citizens, AI and authorities to identify and resolve problems efficiently.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144000" y="209550"/>
            <a:ext cx="4362450" cy="3438525"/>
          </a:xfrm>
          <a:custGeom>
            <a:rect b="b" l="l" r="r" t="t"/>
            <a:pathLst>
              <a:path extrusionOk="0" h="3438525" w="4362450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2"/>
          <p:cNvSpPr/>
          <p:nvPr/>
        </p:nvSpPr>
        <p:spPr>
          <a:xfrm>
            <a:off x="13496925" y="209550"/>
            <a:ext cx="4581525" cy="3438525"/>
          </a:xfrm>
          <a:custGeom>
            <a:rect b="b" l="l" r="r" t="t"/>
            <a:pathLst>
              <a:path extrusionOk="0" h="3438525" w="4581525">
                <a:moveTo>
                  <a:pt x="0" y="0"/>
                </a:moveTo>
                <a:lnTo>
                  <a:pt x="4581525" y="0"/>
                </a:lnTo>
                <a:lnTo>
                  <a:pt x="4581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p2"/>
          <p:cNvSpPr/>
          <p:nvPr/>
        </p:nvSpPr>
        <p:spPr>
          <a:xfrm>
            <a:off x="9144000" y="3429000"/>
            <a:ext cx="4362450" cy="3429000"/>
          </a:xfrm>
          <a:custGeom>
            <a:rect b="b" l="l" r="r" t="t"/>
            <a:pathLst>
              <a:path extrusionOk="0" h="3429000" w="4362450">
                <a:moveTo>
                  <a:pt x="0" y="0"/>
                </a:moveTo>
                <a:lnTo>
                  <a:pt x="4362450" y="0"/>
                </a:lnTo>
                <a:lnTo>
                  <a:pt x="4362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2"/>
          <p:cNvSpPr/>
          <p:nvPr/>
        </p:nvSpPr>
        <p:spPr>
          <a:xfrm>
            <a:off x="13496925" y="3429000"/>
            <a:ext cx="4581525" cy="3429000"/>
          </a:xfrm>
          <a:custGeom>
            <a:rect b="b" l="l" r="r" t="t"/>
            <a:pathLst>
              <a:path extrusionOk="0" h="3429000" w="4581525">
                <a:moveTo>
                  <a:pt x="0" y="0"/>
                </a:moveTo>
                <a:lnTo>
                  <a:pt x="4581525" y="0"/>
                </a:lnTo>
                <a:lnTo>
                  <a:pt x="458152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" name="Google Shape;81;p2"/>
          <p:cNvSpPr/>
          <p:nvPr/>
        </p:nvSpPr>
        <p:spPr>
          <a:xfrm>
            <a:off x="9144000" y="6638925"/>
            <a:ext cx="4362450" cy="3438525"/>
          </a:xfrm>
          <a:custGeom>
            <a:rect b="b" l="l" r="r" t="t"/>
            <a:pathLst>
              <a:path extrusionOk="0" h="3438525" w="4362450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13496925" y="6638925"/>
            <a:ext cx="4581525" cy="3438525"/>
          </a:xfrm>
          <a:custGeom>
            <a:rect b="b" l="l" r="r" t="t"/>
            <a:pathLst>
              <a:path extrusionOk="0" h="3438525" w="4581525">
                <a:moveTo>
                  <a:pt x="0" y="0"/>
                </a:moveTo>
                <a:lnTo>
                  <a:pt x="4581525" y="0"/>
                </a:lnTo>
                <a:lnTo>
                  <a:pt x="4581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3"/>
          <p:cNvSpPr/>
          <p:nvPr/>
        </p:nvSpPr>
        <p:spPr>
          <a:xfrm>
            <a:off x="0" y="0"/>
            <a:ext cx="12630150" cy="10287000"/>
          </a:xfrm>
          <a:custGeom>
            <a:rect b="b" l="l" r="r" t="t"/>
            <a:pathLst>
              <a:path extrusionOk="0" h="10287000" w="12630150">
                <a:moveTo>
                  <a:pt x="0" y="0"/>
                </a:moveTo>
                <a:lnTo>
                  <a:pt x="12630150" y="0"/>
                </a:lnTo>
                <a:lnTo>
                  <a:pt x="1263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3"/>
          <p:cNvSpPr txBox="1"/>
          <p:nvPr/>
        </p:nvSpPr>
        <p:spPr>
          <a:xfrm>
            <a:off x="658368" y="495029"/>
            <a:ext cx="48279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EFFECT ON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658379" y="1410574"/>
            <a:ext cx="482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1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47700" y="2781300"/>
            <a:ext cx="1314450" cy="219075"/>
          </a:xfrm>
          <a:custGeom>
            <a:rect b="b" l="l" r="r" t="t"/>
            <a:pathLst>
              <a:path extrusionOk="0"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3"/>
          <p:cNvSpPr txBox="1"/>
          <p:nvPr/>
        </p:nvSpPr>
        <p:spPr>
          <a:xfrm>
            <a:off x="658368" y="3205728"/>
            <a:ext cx="8668500" cy="1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Everyday civic problems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disrupt daily life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impact everyone. They lead to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inconvenience, safety risks,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waste of resources.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Ignored issues make our city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less livable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more stressful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Small problems today can become </a:t>
            </a:r>
            <a:r>
              <a:rPr b="1" i="0" lang="en-US" sz="2372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bigger challenges</a:t>
            </a:r>
            <a:r>
              <a:rPr b="0" i="0" lang="en-US" sz="23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tomorrow.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47700" y="5572125"/>
            <a:ext cx="2838450" cy="1504950"/>
          </a:xfrm>
          <a:custGeom>
            <a:rect b="b" l="l" r="r" t="t"/>
            <a:pathLst>
              <a:path extrusionOk="0"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3"/>
          <p:cNvSpPr txBox="1"/>
          <p:nvPr/>
        </p:nvSpPr>
        <p:spPr>
          <a:xfrm>
            <a:off x="1261872" y="6000569"/>
            <a:ext cx="1536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CIVIC PROBLEMS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257550" y="6000750"/>
            <a:ext cx="885825" cy="647700"/>
          </a:xfrm>
          <a:custGeom>
            <a:rect b="b" l="l" r="r" t="t"/>
            <a:pathLst>
              <a:path extrusionOk="0"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3"/>
          <p:cNvSpPr/>
          <p:nvPr/>
        </p:nvSpPr>
        <p:spPr>
          <a:xfrm>
            <a:off x="3914775" y="5572125"/>
            <a:ext cx="3057525" cy="1504950"/>
          </a:xfrm>
          <a:custGeom>
            <a:rect b="b" l="l" r="r" t="t"/>
            <a:pathLst>
              <a:path extrusionOk="0" h="1504950" w="3057525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3"/>
          <p:cNvSpPr txBox="1"/>
          <p:nvPr/>
        </p:nvSpPr>
        <p:spPr>
          <a:xfrm>
            <a:off x="4334256" y="6167369"/>
            <a:ext cx="22677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INCONVENIENCE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743700" y="6000750"/>
            <a:ext cx="876300" cy="647700"/>
          </a:xfrm>
          <a:custGeom>
            <a:rect b="b" l="l" r="r" t="t"/>
            <a:pathLst>
              <a:path extrusionOk="0"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3"/>
          <p:cNvSpPr/>
          <p:nvPr/>
        </p:nvSpPr>
        <p:spPr>
          <a:xfrm>
            <a:off x="7620000" y="5572125"/>
            <a:ext cx="2838450" cy="1504950"/>
          </a:xfrm>
          <a:custGeom>
            <a:rect b="b" l="l" r="r" t="t"/>
            <a:pathLst>
              <a:path extrusionOk="0"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3"/>
          <p:cNvSpPr txBox="1"/>
          <p:nvPr/>
        </p:nvSpPr>
        <p:spPr>
          <a:xfrm>
            <a:off x="8412480" y="5942406"/>
            <a:ext cx="11703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 RISKS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0448925" y="6000750"/>
            <a:ext cx="657225" cy="647700"/>
          </a:xfrm>
          <a:custGeom>
            <a:rect b="b" l="l" r="r" t="t"/>
            <a:pathLst>
              <a:path extrusionOk="0"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3"/>
          <p:cNvSpPr/>
          <p:nvPr/>
        </p:nvSpPr>
        <p:spPr>
          <a:xfrm>
            <a:off x="11096625" y="5572125"/>
            <a:ext cx="2838450" cy="1504950"/>
          </a:xfrm>
          <a:custGeom>
            <a:rect b="b" l="l" r="r" t="t"/>
            <a:pathLst>
              <a:path extrusionOk="0"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3"/>
          <p:cNvSpPr txBox="1"/>
          <p:nvPr/>
        </p:nvSpPr>
        <p:spPr>
          <a:xfrm>
            <a:off x="11722608" y="6000569"/>
            <a:ext cx="1518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WASTAGE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3925550" y="6000750"/>
            <a:ext cx="666750" cy="647700"/>
          </a:xfrm>
          <a:custGeom>
            <a:rect b="b" l="l" r="r" t="t"/>
            <a:pathLst>
              <a:path extrusionOk="0"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14363700" y="5572125"/>
            <a:ext cx="3276600" cy="1504950"/>
          </a:xfrm>
          <a:custGeom>
            <a:rect b="b" l="l" r="r" t="t"/>
            <a:pathLst>
              <a:path extrusionOk="0" h="1504950" w="3276600">
                <a:moveTo>
                  <a:pt x="0" y="0"/>
                </a:moveTo>
                <a:lnTo>
                  <a:pt x="3276600" y="0"/>
                </a:lnTo>
                <a:lnTo>
                  <a:pt x="3276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 txBox="1"/>
          <p:nvPr/>
        </p:nvSpPr>
        <p:spPr>
          <a:xfrm>
            <a:off x="15014448" y="6000569"/>
            <a:ext cx="20484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96D6"/>
                </a:solidFill>
                <a:latin typeface="Arial"/>
                <a:ea typeface="Arial"/>
                <a:cs typeface="Arial"/>
                <a:sym typeface="Arial"/>
              </a:rPr>
              <a:t>POOR URBAN ENVIRONMENT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7700" y="7715250"/>
            <a:ext cx="228600" cy="1504950"/>
          </a:xfrm>
          <a:custGeom>
            <a:rect b="b" l="l" r="r" t="t"/>
            <a:pathLst>
              <a:path extrusionOk="0"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987552" y="7935709"/>
            <a:ext cx="98388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“A small civic issue, when ignored,</a:t>
            </a:r>
            <a:endParaRPr/>
          </a:p>
          <a:p>
            <a:pPr indent="0" lvl="0" marL="0" marR="0" rtl="0" algn="l">
              <a:lnSpc>
                <a:spcPct val="12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can become a </a:t>
            </a:r>
            <a:r>
              <a:rPr b="1" i="0" lang="en-US" sz="3434" u="none" cap="none" strike="noStrike">
                <a:solidFill>
                  <a:srgbClr val="0096D6"/>
                </a:solidFill>
                <a:latin typeface="Rubik"/>
                <a:ea typeface="Rubik"/>
                <a:cs typeface="Rubik"/>
                <a:sym typeface="Rubik"/>
              </a:rPr>
              <a:t>major problem</a:t>
            </a:r>
            <a:r>
              <a:rPr b="0" i="0" lang="en-US" sz="3434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for the community.”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694952" y="588932"/>
            <a:ext cx="66018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8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PROPOSED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694952" y="1457975"/>
            <a:ext cx="66018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3" u="none" cap="none" strike="noStrike">
                <a:solidFill>
                  <a:srgbClr val="00A4E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47700" y="2781300"/>
            <a:ext cx="1314450" cy="219075"/>
          </a:xfrm>
          <a:custGeom>
            <a:rect b="b" l="l" r="r" t="t"/>
            <a:pathLst>
              <a:path extrusionOk="0"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4"/>
          <p:cNvSpPr txBox="1"/>
          <p:nvPr/>
        </p:nvSpPr>
        <p:spPr>
          <a:xfrm>
            <a:off x="694944" y="3093978"/>
            <a:ext cx="71322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Civic Guardian is an AI-powered civic issue reporting and community problem-solving platform that </a:t>
            </a:r>
            <a:r>
              <a:rPr b="1" i="0" lang="en-US" sz="2230" u="none" cap="none" strike="noStrike">
                <a:solidFill>
                  <a:srgbClr val="00A4E0"/>
                </a:solidFill>
                <a:latin typeface="Arial"/>
                <a:ea typeface="Arial"/>
                <a:cs typeface="Arial"/>
                <a:sym typeface="Arial"/>
              </a:rPr>
              <a:t>connects citizens, communities</a:t>
            </a:r>
            <a:r>
              <a:rPr b="0" i="0" lang="en-US" sz="2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local </a:t>
            </a:r>
            <a:r>
              <a:rPr b="1" i="0" lang="en-US" sz="2230" u="none" cap="none" strike="noStrike">
                <a:solidFill>
                  <a:srgbClr val="00A4E0"/>
                </a:solidFill>
                <a:latin typeface="Arial"/>
                <a:ea typeface="Arial"/>
                <a:cs typeface="Arial"/>
                <a:sym typeface="Arial"/>
              </a:rPr>
              <a:t>authorities</a:t>
            </a:r>
            <a:r>
              <a:rPr b="0" i="0" lang="en-US" sz="22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0668000" y="209550"/>
            <a:ext cx="7191375" cy="4076700"/>
          </a:xfrm>
          <a:custGeom>
            <a:rect b="b" l="l" r="r" t="t"/>
            <a:pathLst>
              <a:path extrusionOk="0" h="4076700" w="7191375">
                <a:moveTo>
                  <a:pt x="0" y="0"/>
                </a:moveTo>
                <a:lnTo>
                  <a:pt x="7191375" y="0"/>
                </a:lnTo>
                <a:lnTo>
                  <a:pt x="71913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4"/>
          <p:cNvSpPr/>
          <p:nvPr/>
        </p:nvSpPr>
        <p:spPr>
          <a:xfrm>
            <a:off x="428625" y="4286250"/>
            <a:ext cx="2190750" cy="2143125"/>
          </a:xfrm>
          <a:custGeom>
            <a:rect b="b" l="l" r="r" t="t"/>
            <a:pathLst>
              <a:path extrusionOk="0"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4"/>
          <p:cNvSpPr txBox="1"/>
          <p:nvPr/>
        </p:nvSpPr>
        <p:spPr>
          <a:xfrm>
            <a:off x="1243584" y="4857496"/>
            <a:ext cx="567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4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01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609850" y="4286250"/>
            <a:ext cx="2181225" cy="2143125"/>
          </a:xfrm>
          <a:custGeom>
            <a:rect b="b" l="l" r="r" t="t"/>
            <a:pathLst>
              <a:path extrusionOk="0"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4"/>
          <p:cNvSpPr txBox="1"/>
          <p:nvPr/>
        </p:nvSpPr>
        <p:spPr>
          <a:xfrm>
            <a:off x="3401568" y="4881949"/>
            <a:ext cx="56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29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02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3200400" y="5426567"/>
            <a:ext cx="1005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GPS LOCATION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781550" y="4286250"/>
            <a:ext cx="1971675" cy="2143125"/>
          </a:xfrm>
          <a:custGeom>
            <a:rect b="b" l="l" r="r" t="t"/>
            <a:pathLst>
              <a:path extrusionOk="0"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 txBox="1"/>
          <p:nvPr/>
        </p:nvSpPr>
        <p:spPr>
          <a:xfrm>
            <a:off x="5285232" y="5445392"/>
            <a:ext cx="11340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DETECTION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962775" y="4286250"/>
            <a:ext cx="1971675" cy="2143125"/>
          </a:xfrm>
          <a:custGeom>
            <a:rect b="b" l="l" r="r" t="t"/>
            <a:pathLst>
              <a:path extrusionOk="0"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 txBox="1"/>
          <p:nvPr/>
        </p:nvSpPr>
        <p:spPr>
          <a:xfrm>
            <a:off x="7296912" y="5339388"/>
            <a:ext cx="13533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DUPLICATE &amp; PRIORITY DETECTION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9144000" y="4286250"/>
            <a:ext cx="1962150" cy="2143125"/>
          </a:xfrm>
          <a:custGeom>
            <a:rect b="b" l="l" r="r" t="t"/>
            <a:pathLst>
              <a:path extrusionOk="0" h="2143125" w="1962150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9454896" y="5425891"/>
            <a:ext cx="135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COMMUNITY RESOLUTION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1315700" y="4286250"/>
            <a:ext cx="1971675" cy="2143125"/>
          </a:xfrm>
          <a:custGeom>
            <a:rect b="b" l="l" r="r" t="t"/>
            <a:pathLst>
              <a:path extrusionOk="0"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4"/>
          <p:cNvSpPr txBox="1"/>
          <p:nvPr/>
        </p:nvSpPr>
        <p:spPr>
          <a:xfrm>
            <a:off x="11704320" y="5445392"/>
            <a:ext cx="12618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PROOF OF RESOLUTION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3496925" y="4286250"/>
            <a:ext cx="2181225" cy="2143125"/>
          </a:xfrm>
          <a:custGeom>
            <a:rect b="b" l="l" r="r" t="t"/>
            <a:pathLst>
              <a:path extrusionOk="0"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14246352" y="4860648"/>
            <a:ext cx="567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6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07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3862304" y="5426567"/>
            <a:ext cx="1353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VERIFICATION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5668625" y="4286250"/>
            <a:ext cx="2190750" cy="2143125"/>
          </a:xfrm>
          <a:custGeom>
            <a:rect b="b" l="l" r="r" t="t"/>
            <a:pathLst>
              <a:path extrusionOk="0"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6440912" y="4887612"/>
            <a:ext cx="567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8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08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6075152" y="5436317"/>
            <a:ext cx="1353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REWARDS &amp; RECOGNITION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390775" y="5143500"/>
            <a:ext cx="447675" cy="428625"/>
          </a:xfrm>
          <a:custGeom>
            <a:rect b="b" l="l" r="r" t="t"/>
            <a:pathLst>
              <a:path extrusionOk="0"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4572000" y="5143500"/>
            <a:ext cx="438150" cy="428625"/>
          </a:xfrm>
          <a:custGeom>
            <a:rect b="b" l="l" r="r" t="t"/>
            <a:pathLst>
              <a:path extrusionOk="0"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/>
          <p:nvPr/>
        </p:nvSpPr>
        <p:spPr>
          <a:xfrm>
            <a:off x="6524625" y="5143500"/>
            <a:ext cx="666750" cy="428625"/>
          </a:xfrm>
          <a:custGeom>
            <a:rect b="b" l="l" r="r" t="t"/>
            <a:pathLst>
              <a:path extrusionOk="0"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4"/>
          <p:cNvSpPr/>
          <p:nvPr/>
        </p:nvSpPr>
        <p:spPr>
          <a:xfrm>
            <a:off x="8705850" y="5143500"/>
            <a:ext cx="438150" cy="428625"/>
          </a:xfrm>
          <a:custGeom>
            <a:rect b="b" l="l" r="r" t="t"/>
            <a:pathLst>
              <a:path extrusionOk="0"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10877550" y="5143500"/>
            <a:ext cx="666750" cy="428625"/>
          </a:xfrm>
          <a:custGeom>
            <a:rect b="b" l="l" r="r" t="t"/>
            <a:pathLst>
              <a:path extrusionOk="0"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13058775" y="5143500"/>
            <a:ext cx="657225" cy="428625"/>
          </a:xfrm>
          <a:custGeom>
            <a:rect b="b" l="l" r="r" t="t"/>
            <a:pathLst>
              <a:path extrusionOk="0"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5449550" y="5143500"/>
            <a:ext cx="447675" cy="428625"/>
          </a:xfrm>
          <a:custGeom>
            <a:rect b="b" l="l" r="r" t="t"/>
            <a:pathLst>
              <a:path extrusionOk="0"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952625" y="6210300"/>
            <a:ext cx="447675" cy="647700"/>
          </a:xfrm>
          <a:custGeom>
            <a:rect b="b" l="l" r="r" t="t"/>
            <a:pathLst>
              <a:path extrusionOk="0"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657850" y="6210300"/>
            <a:ext cx="438150" cy="647700"/>
          </a:xfrm>
          <a:custGeom>
            <a:rect b="b" l="l" r="r" t="t"/>
            <a:pathLst>
              <a:path extrusionOk="0"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/>
          <p:nvPr/>
        </p:nvSpPr>
        <p:spPr>
          <a:xfrm>
            <a:off x="8705850" y="6210300"/>
            <a:ext cx="228600" cy="647700"/>
          </a:xfrm>
          <a:custGeom>
            <a:rect b="b" l="l" r="r" t="t"/>
            <a:pathLst>
              <a:path extrusionOk="0"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>
            <a:off x="10010775" y="6210300"/>
            <a:ext cx="228600" cy="647700"/>
          </a:xfrm>
          <a:custGeom>
            <a:rect b="b" l="l" r="r" t="t"/>
            <a:pathLst>
              <a:path extrusionOk="0"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4"/>
          <p:cNvSpPr/>
          <p:nvPr/>
        </p:nvSpPr>
        <p:spPr>
          <a:xfrm>
            <a:off x="14363700" y="6210300"/>
            <a:ext cx="447675" cy="647700"/>
          </a:xfrm>
          <a:custGeom>
            <a:rect b="b" l="l" r="r" t="t"/>
            <a:pathLst>
              <a:path extrusionOk="0"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4"/>
          <p:cNvSpPr/>
          <p:nvPr/>
        </p:nvSpPr>
        <p:spPr>
          <a:xfrm>
            <a:off x="1952625" y="6429375"/>
            <a:ext cx="12639675" cy="428625"/>
          </a:xfrm>
          <a:custGeom>
            <a:rect b="b" l="l" r="r" t="t"/>
            <a:pathLst>
              <a:path extrusionOk="0" h="428625" w="12639675">
                <a:moveTo>
                  <a:pt x="0" y="0"/>
                </a:moveTo>
                <a:lnTo>
                  <a:pt x="12639675" y="0"/>
                </a:lnTo>
                <a:lnTo>
                  <a:pt x="12639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428625" y="6858000"/>
            <a:ext cx="17430750" cy="3219450"/>
          </a:xfrm>
          <a:custGeom>
            <a:rect b="b" l="l" r="r" t="t"/>
            <a:pathLst>
              <a:path extrusionOk="0" h="3219450" w="17430750">
                <a:moveTo>
                  <a:pt x="0" y="0"/>
                </a:moveTo>
                <a:lnTo>
                  <a:pt x="17430750" y="0"/>
                </a:lnTo>
                <a:lnTo>
                  <a:pt x="174307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4"/>
          <p:cNvSpPr txBox="1"/>
          <p:nvPr/>
        </p:nvSpPr>
        <p:spPr>
          <a:xfrm>
            <a:off x="877824" y="7570890"/>
            <a:ext cx="400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6" u="none" cap="none" strike="noStrike">
                <a:solidFill>
                  <a:srgbClr val="00A4E0"/>
                </a:solidFill>
                <a:latin typeface="Arial"/>
                <a:ea typeface="Arial"/>
                <a:cs typeface="Arial"/>
                <a:sym typeface="Arial"/>
              </a:rPr>
              <a:t>CIVIC IMPACT SCORE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877824" y="8218218"/>
            <a:ext cx="41331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ranks contributors based on verified resolutions, problem severity and community impact.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438775" y="7286625"/>
            <a:ext cx="2619375" cy="2571750"/>
          </a:xfrm>
          <a:custGeom>
            <a:rect b="b" l="l" r="r" t="t"/>
            <a:pathLst>
              <a:path extrusionOk="0" h="2571750" w="2619375">
                <a:moveTo>
                  <a:pt x="0" y="0"/>
                </a:moveTo>
                <a:lnTo>
                  <a:pt x="2619375" y="0"/>
                </a:lnTo>
                <a:lnTo>
                  <a:pt x="2619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8048625" y="7286625"/>
            <a:ext cx="3057525" cy="2571750"/>
          </a:xfrm>
          <a:custGeom>
            <a:rect b="b" l="l" r="r" t="t"/>
            <a:pathLst>
              <a:path extrusionOk="0" h="2571750" w="3057525">
                <a:moveTo>
                  <a:pt x="0" y="0"/>
                </a:moveTo>
                <a:lnTo>
                  <a:pt x="3057525" y="0"/>
                </a:lnTo>
                <a:lnTo>
                  <a:pt x="3057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11096625" y="7286625"/>
            <a:ext cx="2190750" cy="2571750"/>
          </a:xfrm>
          <a:custGeom>
            <a:rect b="b" l="l" r="r" t="t"/>
            <a:pathLst>
              <a:path extrusionOk="0" h="2571750" w="2190750">
                <a:moveTo>
                  <a:pt x="0" y="0"/>
                </a:moveTo>
                <a:lnTo>
                  <a:pt x="2190750" y="0"/>
                </a:lnTo>
                <a:lnTo>
                  <a:pt x="2190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4"/>
          <p:cNvSpPr txBox="1"/>
          <p:nvPr/>
        </p:nvSpPr>
        <p:spPr>
          <a:xfrm>
            <a:off x="5504688" y="4887161"/>
            <a:ext cx="567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3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03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7662672" y="4892824"/>
            <a:ext cx="567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3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04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9802368" y="4881949"/>
            <a:ext cx="56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29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05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12033504" y="4881949"/>
            <a:ext cx="56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29" u="none" cap="none" strike="noStrike">
                <a:solidFill>
                  <a:srgbClr val="00A4E0"/>
                </a:solidFill>
                <a:latin typeface="Rubik"/>
                <a:ea typeface="Rubik"/>
                <a:cs typeface="Rubik"/>
                <a:sym typeface="Rubik"/>
              </a:rPr>
              <a:t>06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1133856" y="5519061"/>
            <a:ext cx="822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4729C63-8AAC-351A-EE5A-1D2E16C11B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8605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960" y="1287399"/>
            <a:ext cx="7680960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5"/>
              </a:lnSpc>
            </a:pPr>
            <a:r>
              <a:rPr lang="en-US" sz="10029" b="1">
                <a:solidFill>
                  <a:srgbClr val="FFFF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320992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2960" y="3734181"/>
            <a:ext cx="733348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031" b="1">
                <a:solidFill>
                  <a:srgbClr val="38B6FF"/>
                </a:solidFill>
                <a:latin typeface="Rubik Bold"/>
                <a:ea typeface="Rubik Bold"/>
                <a:cs typeface="Rubik Bold"/>
                <a:sym typeface="Rubik Bold"/>
              </a:rPr>
              <a:t>Report. Solve. Improve Our City Together.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960" y="5696708"/>
            <a:ext cx="6345936" cy="4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Smarter communities start with every report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6283067"/>
            <a:ext cx="5504688" cy="4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AI-powered solutions for faster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6869426"/>
            <a:ext cx="5779008" cy="4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Stronger coordination for lasting change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960" y="7553269"/>
            <a:ext cx="4956048" cy="97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38B6FF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Let’s build safer, cleaner, and more responsive cities.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8774565"/>
            <a:ext cx="5010912" cy="514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Let’s continue the conversation.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48625" y="2143125"/>
            <a:ext cx="10239375" cy="8143875"/>
          </a:xfrm>
          <a:custGeom>
            <a:avLst/>
            <a:gdLst/>
            <a:ahLst/>
            <a:cxnLst/>
            <a:rect l="l" t="t" r="r" b="b"/>
            <a:pathLst>
              <a:path w="10239375" h="8143875">
                <a:moveTo>
                  <a:pt x="0" y="0"/>
                </a:moveTo>
                <a:lnTo>
                  <a:pt x="10239375" y="0"/>
                </a:lnTo>
                <a:lnTo>
                  <a:pt x="10239375" y="8143875"/>
                </a:lnTo>
                <a:lnTo>
                  <a:pt x="0" y="814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096625" y="2143125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716000" y="257175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325850" y="23526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925550" y="363855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411700" y="3638550"/>
            <a:ext cx="666750" cy="1076325"/>
          </a:xfrm>
          <a:custGeom>
            <a:avLst/>
            <a:gdLst/>
            <a:ahLst/>
            <a:cxnLst/>
            <a:rect l="l" t="t" r="r" b="b"/>
            <a:pathLst>
              <a:path w="666750" h="1076325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40000" y="449580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34775" y="5572125"/>
            <a:ext cx="876300" cy="1285875"/>
          </a:xfrm>
          <a:custGeom>
            <a:avLst/>
            <a:gdLst/>
            <a:ahLst/>
            <a:cxnLst/>
            <a:rect l="l" t="t" r="r" b="b"/>
            <a:pathLst>
              <a:path w="876300" h="1285875">
                <a:moveTo>
                  <a:pt x="0" y="0"/>
                </a:moveTo>
                <a:lnTo>
                  <a:pt x="876300" y="0"/>
                </a:lnTo>
                <a:lnTo>
                  <a:pt x="876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